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Apertura. Presento el diseño: qué se compara, qué se mide y bajo qué condiciones. Al final comento los criterios de ACM Artifact Review and Badging.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el objetivo. Marcar que la comparación vale porque las cuatro implementaciones hacen el mismo trabajo, con los mismos datos y el mismo reloj.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 la pregunta. Tiene dos partes: el lenguaje y el tamaño de la matriz.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H₀ dice que el lenguaje no cambia el tiempo. H₁ dice que al menos uno difiere. α = 0.05 es el umbral: por debajo de ese valor p se rechaza H₀.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las tres columnas. Se cambian el lenguaje y N. Se mide el tiempo de multiplicar. Lo demás queda fijo: algoritmo, tipo de dato, matrices y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por 3 por 10 son 120 mediciones. Están todas las combinaciones de lenguaje y tamaño. La semilla 42 hace que las cuatro implementaciones partan de las mismas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reloj empieza con A y B listas y termina cuando C está calculada. Leer el bucle: para cada celda de C se suma A por la fila y B por la columna. La semilla 42 y Park–Miller sirven para que los cuatro lenguajes generen los mismos números.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Repeatability: el mismo equipo, el mismo montaje. Reproducibility: otro equipo, con los artifacts de quien hizo el estudio. Replicability: otro equipo, con un montaje que arma por su cuenta. En la versión 1.1 de ACM, de agosto de 2020, reproducibility y replicability quedaron definidas así.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familias, separadas. Functional: documentado, consistente, completo y ejecutable. Reusable: además se puede reutilizar. Available: está archivado en un repositorio público permanente, con identificador. Reproduced: otro equipo obtiene el resultado usando los artifacts del autor. Replicated: otro equipo lo obtiene sin esos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comentario que pide la semana. Los principios y los badges no son un glosario aparte: son la referencia para construir el artifact, para documentarlo y para evaluarlo después. Construcción: que se pueda ejecutar la comparación tal como está diseñada. Documentación: que el README alcance para que otro la ejercite. Evaluación: Functional, Reusable, Available y Reproduced son los criterios con los que se va a revisar.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UNIVERSIDAD DE SANTIAGO DE CHILE  ·  DOCTORADO, MENCIÓN INFORMÁTICA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Diseño del experimento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Benchmark del algoritmo naive de multiplicación
de matrices NxN en C++, Go, Java y Python.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46120"/>
            <a:ext cx="2011680" cy="4572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Semana 1. Propuesta experimental y criterios ACM Artifact Review &amp; Badging.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709160"/>
            <a:ext cx="12191695" cy="2148840"/>
          </a:xfrm>
          <a:prstGeom prst="rect">
            <a:avLst/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E0D8"/>
                </a:solidFill>
                <a:latin typeface="Calibri"/>
                <a:ea typeface="Calibri"/>
                <a:cs typeface="Calibri"/>
              </a:rPr>
              <a:t>ASIGNATURA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Experimentación computacional
Módulo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E0D8"/>
                </a:solidFill>
                <a:latin typeface="Calibri"/>
                <a:ea typeface="Calibri"/>
                <a:cs typeface="Calibri"/>
              </a:rPr>
              <a:t>PROFESOR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3492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Alcides Quispe Sanca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93776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7E0D8"/>
                </a:solidFill>
                <a:latin typeface="Calibri"/>
                <a:ea typeface="Calibri"/>
                <a:cs typeface="Calibri"/>
              </a:rPr>
              <a:t>ESTUDIANTE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34924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Alejandro Jesús Pirez Prendes
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Qué se compara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55680" cy="2377440"/>
          </a:xfrm>
          <a:prstGeom prst="roundRect">
            <a:avLst>
              <a:gd name="adj" fmla="val 6000"/>
            </a:avLst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91440" cy="237744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1965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El tiempo de ejecución del algoritmo naive de multiplicación de matrices cuadradas NxN, en C++, Go, Java y Python, con implementaciones equivalentes.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0624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Las cuatro usan el mismo algoritmo, el mismo tipo de dato, las mismas matrices y la misma forma de medir.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39496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55955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C++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39496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55955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9496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555955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5394960"/>
            <a:ext cx="2697480" cy="777240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5559552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Qué se quiere saber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11155680" cy="3063240"/>
          </a:xfrm>
          <a:prstGeom prst="roundRect">
            <a:avLst>
              <a:gd name="adj" fmla="val 6000"/>
            </a:avLst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91440" cy="306324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424160" cy="2651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¿Hay diferencias significativas en el tiempo del algoritmo naive de matrices NxN entre C++, Go, Java y Python, y cómo cambian esas diferencias cuando crece 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754880"/>
            <a:ext cx="1115568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La pregunta compara los cuatro lenguajes y, además, cómo cambia esa diferencia con el tamaño. Por eso N es un factor: 500, 1000 y 1500.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Lo que el experimento puede sostener o descartar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H₀   NULA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El lenguaje no produce diferencias estadísticamente significativas en el tiempo de ejecución.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3383280"/>
          </a:xfrm>
          <a:prstGeom prst="roundRect">
            <a:avLst>
              <a:gd name="adj" fmla="val 8000"/>
            </a:avLst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E0D8"/>
                </a:solidFill>
                <a:latin typeface="Calibri"/>
                <a:ea typeface="Calibri"/>
                <a:cs typeface="Calibri"/>
              </a:rPr>
              <a:t>H₁   ALTERNATIVA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Al menos un lenguaje tiene un tiempo significativamente distinto del de los demás.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El nivel de significación es α = 0.05. Si el valor p del contraste queda por debajo de 0,05, se rechaza H₀.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Qué se cambia, qué se mide y qué se deja fijo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SE VARÍA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3258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C3E1E"/>
                </a:solidFill>
                <a:latin typeface="Calibri"/>
                <a:ea typeface="Calibri"/>
                <a:cs typeface="Calibri"/>
              </a:rPr>
              <a:t>SE 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13258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SE MANTIENE FIJO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2938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Lenguaje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860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C++, Go, Java, 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17520"/>
            <a:ext cx="3703320" cy="10972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163824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Tamaño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52043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500, 1000 y 1500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783080"/>
            <a:ext cx="3703320" cy="2331720"/>
          </a:xfrm>
          <a:prstGeom prst="roundRect">
            <a:avLst>
              <a:gd name="adj" fmla="val 8000"/>
            </a:avLst>
          </a:prstGeom>
          <a:solidFill>
            <a:srgbClr val="FB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965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Tiempo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65176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Segundos de una multiplicación. Cada medición se identifica por lenguaje, N y número de repetición.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783080"/>
            <a:ext cx="3337560" cy="585216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911095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Mismo algoritmo, orden i-j-k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2441448"/>
            <a:ext cx="3337560" cy="585216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22208" y="2569464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Tipo double de 64 bits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3099815"/>
            <a:ext cx="3337560" cy="585216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322783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Matrices con semilla 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66760" y="3758184"/>
            <a:ext cx="3337560" cy="585216"/>
          </a:xfrm>
          <a:prstGeom prst="roundRect">
            <a:avLst>
              <a:gd name="adj" fmla="val 10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3886200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La misma máquina de ejecución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DISEÑO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Factorial completo, con diez réplicas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C5E5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lenguajes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630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C5E5A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2860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tamaños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C5E5A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repeticiones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371600"/>
            <a:ext cx="2697480" cy="1554480"/>
          </a:xfrm>
          <a:prstGeom prst="roundRect">
            <a:avLst>
              <a:gd name="adj" fmla="val 8000"/>
            </a:avLst>
          </a:prstGeom>
          <a:solidFill>
            <a:srgbClr val="083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463040"/>
            <a:ext cx="242316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28600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5EEEA"/>
                </a:solidFill>
                <a:latin typeface="Calibri"/>
                <a:ea typeface="Calibri"/>
                <a:cs typeface="Calibri"/>
              </a:rPr>
              <a:t>mediciones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2004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Unidad experimental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0040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Una multiplicación, para un lenguaje, un N y una repetición. A y B ya están creadas cuando empieza.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519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Repeticiones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25196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Diez por cada combinación de lenguaje y tamaño. Cada una queda identificada con su número.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035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Matrices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303520"/>
            <a:ext cx="804672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Semilla 42 y generador de Park–Miller. Primero se llena A por filas y después B.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ALGORITMO Y MEDICIÓN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El tiempo registrado es solo la multiplicación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ANTES DEL RELOJ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A y B ya están
creadas.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98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5EEEA"/>
                </a:solidFill>
                <a:latin typeface="Calibri"/>
                <a:ea typeface="Calibri"/>
                <a:cs typeface="Calibri"/>
              </a:rPr>
              <a:t>DENTRO DEL RELOJ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 calcula C
con el triple bucle.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28016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38988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FUERA DEL TIEMPO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73736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Generar e inicializar
las matrices.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6903720" cy="30632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EL MISMO ALGORITMO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para i, para j:
    C[i][j] = 0
    para k:  C[i][j] = C[i][j] + A[i][k] * B[k][j]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Orden i, j, k. Sin BLAS, NumPy, Eigen ni otra librería de multiplicación.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200400"/>
            <a:ext cx="4114800" cy="3063240"/>
          </a:xfrm>
          <a:prstGeom prst="roundRect">
            <a:avLst>
              <a:gd name="adj" fmla="val 8000"/>
            </a:avLst>
          </a:prstGeom>
          <a:solidFill>
            <a:srgbClr val="FB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383280"/>
            <a:ext cx="37033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C3E1E"/>
                </a:solidFill>
                <a:latin typeface="Calibri"/>
                <a:ea typeface="Calibri"/>
                <a:cs typeface="Calibri"/>
              </a:rPr>
              <a:t>SEMILLA 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840480"/>
            <a:ext cx="37033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x = (16807 · x) mod 2147483647
valor = x / 2147483647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394960"/>
            <a:ext cx="3703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Primero A, por filas. Después B, con el mismo generador.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COMENTARIO  ·  ACM ARTIFACT REVIEW &amp; BADGING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Tres palabras que el módulo usa con un sentido preciso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11201400" cy="14630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91440" cy="146304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39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Repeatability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50876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Mismo equipo, mismo montaje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Quien hizo el experimento puede volver a obtener la medición con el mismo procedimiento, el mismo sistema y las mismas condiciones.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11201400" cy="14630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91440" cy="146304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Reproducibility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10896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Otro equipo, los artifacts del autor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661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Un grupo independiente llega al resultado usando el código, los datos y el procedimiento que entregó quien hizo el estudio.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11201400" cy="14630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26280"/>
            <a:ext cx="91440" cy="1463040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Replicability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70916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Otro equipo, un montaje propio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Un grupo independiente llega al resultado con artifacts que construye por su cuenta, sin usar los del autor.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263640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Fuente: ACM Artifact Review and Badging, versión 1.1 (24 de agosto de 2020).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CRITERIOS QUE ORDENAN EL ARTIFACT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Tres familias de badges, independientes entre sí</a:t>
            </a:r>
          </a:p>
        </p:txBody>
      </p:sp>
      <p:pic>
        <p:nvPicPr>
          <p:cNvPr id="5" name="Picture 4" descr="artifacts_evaluated_functional_d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0432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8760" y="124358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Functional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243584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Documentado, consistente, completo y ejecutable, con evidencia de que hace lo que dice.</a:t>
            </a:r>
          </a:p>
        </p:txBody>
      </p:sp>
      <p:pic>
        <p:nvPicPr>
          <p:cNvPr id="8" name="Picture 7" descr="artifacts_evaluated_reusable_d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57984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2231136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Reusable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231136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Todo lo de Functional, más una estructura y una documentación que permiten reutilizarlo y adaptarlo.</a:t>
            </a:r>
          </a:p>
        </p:txBody>
      </p:sp>
      <p:pic>
        <p:nvPicPr>
          <p:cNvPr id="11" name="Picture 10" descr="artifacts_available_d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45536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8760" y="3218688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218688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Archivado en un repositorio público y permanente, con un identificador. Una página personal no alcanza.</a:t>
            </a:r>
          </a:p>
        </p:txBody>
      </p:sp>
      <p:pic>
        <p:nvPicPr>
          <p:cNvPr id="14" name="Picture 13" descr="results_reproduced_d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33088"/>
            <a:ext cx="868680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42062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Reproduced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20624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Otro equipo obtiene los resultados principales usando, en parte, los artifacts del autor.</a:t>
            </a:r>
          </a:p>
        </p:txBody>
      </p:sp>
      <p:pic>
        <p:nvPicPr>
          <p:cNvPr id="17" name="Picture 16" descr="results_replicated_d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12064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5193792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Replicated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5193792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Otro equipo obtiene los resultados principales sin usar los artifacts del autor.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92608"/>
            <a:ext cx="256032" cy="73152"/>
          </a:xfrm>
          <a:prstGeom prst="rect">
            <a:avLst/>
          </a:prstGeom>
          <a:solidFill>
            <a:srgbClr val="0C5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5E5A"/>
                </a:solidFill>
                <a:latin typeface="Calibri"/>
                <a:ea typeface="Calibri"/>
                <a:cs typeface="Calibri"/>
              </a:rPr>
              <a:t>COMENTARIO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Esos criterios son el marco del artifact de este módulo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Construcción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315468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El artifact tiene que poder correr esta comparación: mismo algoritmo, mismas matrices y el mismo criterio de tiempo. Si falta una de esas piezas, el resultado no responde a la pregunta.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202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Documentación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880360"/>
            <a:ext cx="315468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Tiene que quedar escrito lo necesario para que otra persona lo ejercite. En esta entrega eso es el objetivo, la pregunta, las hipótesis, las variables y el diseño.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91640"/>
            <a:ext cx="3611880" cy="44348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42836"/>
                </a:solidFill>
                <a:latin typeface="Georgia"/>
                <a:ea typeface="Georgia"/>
                <a:cs typeface="Georgia"/>
              </a:rPr>
              <a:t>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80360"/>
            <a:ext cx="3154680" cy="2834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836"/>
                </a:solidFill>
                <a:latin typeface="Calibri"/>
                <a:ea typeface="Calibri"/>
                <a:cs typeface="Calibri"/>
              </a:rPr>
              <a:t>El mismo marco sirve después para revisar el artifact: si está documentado y se puede ejecutar, si se puede reutilizar, si queda archivado y si otro equipo obtiene el resultado con esos archivos.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620256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Alejandro Pirez Prendes  ·  Experimentación computacional, módulo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2025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770"/>
                </a:solidFill>
                <a:latin typeface="Calibri"/>
                <a:ea typeface="Calibri"/>
                <a:cs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 — Diseño experimental</dc:title>
  <dc:subject>Experimentación computacional</dc:subject>
  <dc:creator>Alejandro Jesús Pirez Prendes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Propuesta experimental</cp:category>
</cp:coreProperties>
</file>